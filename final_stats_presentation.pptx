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18288000" cy="10287000"/>
  <p:notesSz cx="6858000" cy="9144000"/>
  <p:embeddedFontLst>
    <p:embeddedFont>
      <p:font typeface="Arimo Bold" charset="1" panose="020B0704020202020204"/>
      <p:regular r:id="rId34"/>
    </p:embeddedFont>
    <p:embeddedFont>
      <p:font typeface="Arimo" charset="1" panose="020B060402020202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2.xml" Type="http://schemas.openxmlformats.org/officeDocument/2006/relationships/notesSlide"/><Relationship Id="rId37" Target="notesSlides/notesSlide3.xml" Type="http://schemas.openxmlformats.org/officeDocument/2006/relationships/notesSlide"/><Relationship Id="rId38" Target="notesSlides/notesSlide4.xml" Type="http://schemas.openxmlformats.org/officeDocument/2006/relationships/notesSlide"/><Relationship Id="rId39" Target="notesSlides/notesSlide5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6.xml" Type="http://schemas.openxmlformats.org/officeDocument/2006/relationships/notesSlide"/><Relationship Id="rId41" Target="notesSlides/notesSlide7.xml" Type="http://schemas.openxmlformats.org/officeDocument/2006/relationships/notesSlide"/><Relationship Id="rId42" Target="notesSlides/notesSlide8.xml" Type="http://schemas.openxmlformats.org/officeDocument/2006/relationships/notesSlide"/><Relationship Id="rId43" Target="notesSlides/notesSlide9.xml" Type="http://schemas.openxmlformats.org/officeDocument/2006/relationships/notesSlide"/><Relationship Id="rId44" Target="notesSlides/notesSlide10.xml" Type="http://schemas.openxmlformats.org/officeDocument/2006/relationships/notesSlide"/><Relationship Id="rId45" Target="notesSlides/notesSlide11.xml" Type="http://schemas.openxmlformats.org/officeDocument/2006/relationships/notesSlide"/><Relationship Id="rId46" Target="notesSlides/notesSlide12.xml" Type="http://schemas.openxmlformats.org/officeDocument/2006/relationships/notesSlide"/><Relationship Id="rId47" Target="notesSlides/notesSlide13.xml" Type="http://schemas.openxmlformats.org/officeDocument/2006/relationships/notesSlide"/><Relationship Id="rId48" Target="notesSlides/notesSlide14.xml" Type="http://schemas.openxmlformats.org/officeDocument/2006/relationships/notesSlide"/><Relationship Id="rId49" Target="notesSlides/notesSlide15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6.xml" Type="http://schemas.openxmlformats.org/officeDocument/2006/relationships/notesSlide"/><Relationship Id="rId51" Target="notesSlides/notesSlide17.xml" Type="http://schemas.openxmlformats.org/officeDocument/2006/relationships/notesSlide"/><Relationship Id="rId52" Target="notesSlides/notesSlide18.xml" Type="http://schemas.openxmlformats.org/officeDocument/2006/relationships/notesSlide"/><Relationship Id="rId53" Target="notesSlides/notesSlide19.xml" Type="http://schemas.openxmlformats.org/officeDocument/2006/relationships/notesSlide"/><Relationship Id="rId54" Target="notesSlides/notesSlide20.xml" Type="http://schemas.openxmlformats.org/officeDocument/2006/relationships/notesSlide"/><Relationship Id="rId55" Target="notesSlides/notesSlide21.xml" Type="http://schemas.openxmlformats.org/officeDocument/2006/relationships/notesSlide"/><Relationship Id="rId56" Target="notesSlides/notesSlide22.xml" Type="http://schemas.openxmlformats.org/officeDocument/2006/relationships/notesSlide"/><Relationship Id="rId57" Target="notesSlides/notesSlide23.xml" Type="http://schemas.openxmlformats.org/officeDocument/2006/relationships/notesSlide"/><Relationship Id="rId58" Target="notesSlides/notesSlide24.xml" Type="http://schemas.openxmlformats.org/officeDocument/2006/relationships/notesSlide"/><Relationship Id="rId59" Target="notesSlides/notesSlide25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Relationship Id="rId3" Target="../media/image1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12038" y="-2445448"/>
            <a:ext cx="10064116" cy="10064116"/>
            <a:chOff x="0" y="0"/>
            <a:chExt cx="13418821" cy="134188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18820" cy="13418820"/>
            </a:xfrm>
            <a:custGeom>
              <a:avLst/>
              <a:gdLst/>
              <a:ahLst/>
              <a:cxnLst/>
              <a:rect r="r" b="b" t="t" l="l"/>
              <a:pathLst>
                <a:path h="13418820" w="13418820">
                  <a:moveTo>
                    <a:pt x="0" y="6709410"/>
                  </a:moveTo>
                  <a:cubicBezTo>
                    <a:pt x="0" y="3003931"/>
                    <a:pt x="3003931" y="0"/>
                    <a:pt x="6709410" y="0"/>
                  </a:cubicBezTo>
                  <a:cubicBezTo>
                    <a:pt x="10414889" y="0"/>
                    <a:pt x="13418820" y="3003931"/>
                    <a:pt x="13418820" y="6709410"/>
                  </a:cubicBezTo>
                  <a:cubicBezTo>
                    <a:pt x="13418820" y="10414889"/>
                    <a:pt x="10414889" y="13418820"/>
                    <a:pt x="6709410" y="13418820"/>
                  </a:cubicBezTo>
                  <a:cubicBezTo>
                    <a:pt x="3003931" y="13418820"/>
                    <a:pt x="0" y="10414889"/>
                    <a:pt x="0" y="670941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08202" y="4277153"/>
            <a:ext cx="15057120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3"/>
              </a:lnSpc>
            </a:pPr>
            <a:r>
              <a:rPr lang="en-US" sz="4978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Why A</a:t>
            </a:r>
            <a:r>
              <a:rPr lang="en-US" sz="4978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 Australians Being Hospitalised for Preventable Conditions?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704634" y="7884140"/>
            <a:ext cx="5635836" cy="5635836"/>
            <a:chOff x="0" y="0"/>
            <a:chExt cx="7514448" cy="75144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14463" cy="7514463"/>
            </a:xfrm>
            <a:custGeom>
              <a:avLst/>
              <a:gdLst/>
              <a:ahLst/>
              <a:cxnLst/>
              <a:rect r="r" b="b" t="t" l="l"/>
              <a:pathLst>
                <a:path h="7514463" w="7514463">
                  <a:moveTo>
                    <a:pt x="0" y="3757168"/>
                  </a:moveTo>
                  <a:cubicBezTo>
                    <a:pt x="0" y="1682115"/>
                    <a:pt x="1682115" y="0"/>
                    <a:pt x="3757168" y="0"/>
                  </a:cubicBezTo>
                  <a:lnTo>
                    <a:pt x="3757168" y="564388"/>
                  </a:lnTo>
                  <a:lnTo>
                    <a:pt x="3757168" y="0"/>
                  </a:lnTo>
                  <a:cubicBezTo>
                    <a:pt x="5832221" y="0"/>
                    <a:pt x="7514463" y="1682115"/>
                    <a:pt x="7514463" y="3757168"/>
                  </a:cubicBezTo>
                  <a:cubicBezTo>
                    <a:pt x="7514463" y="5832221"/>
                    <a:pt x="5832221" y="7514463"/>
                    <a:pt x="3757168" y="7514463"/>
                  </a:cubicBezTo>
                  <a:lnTo>
                    <a:pt x="3757168" y="6949948"/>
                  </a:lnTo>
                  <a:lnTo>
                    <a:pt x="3757168" y="7514336"/>
                  </a:lnTo>
                  <a:cubicBezTo>
                    <a:pt x="1682115" y="7514463"/>
                    <a:pt x="0" y="5832221"/>
                    <a:pt x="0" y="3757168"/>
                  </a:cubicBezTo>
                  <a:lnTo>
                    <a:pt x="564388" y="3757168"/>
                  </a:lnTo>
                  <a:lnTo>
                    <a:pt x="939419" y="4179062"/>
                  </a:lnTo>
                  <a:cubicBezTo>
                    <a:pt x="773303" y="4326763"/>
                    <a:pt x="535940" y="4363212"/>
                    <a:pt x="333248" y="4272153"/>
                  </a:cubicBezTo>
                  <a:cubicBezTo>
                    <a:pt x="130556" y="4181094"/>
                    <a:pt x="0" y="3979545"/>
                    <a:pt x="0" y="3757168"/>
                  </a:cubicBezTo>
                  <a:moveTo>
                    <a:pt x="1128903" y="3757168"/>
                  </a:moveTo>
                  <a:lnTo>
                    <a:pt x="564388" y="3757168"/>
                  </a:lnTo>
                  <a:lnTo>
                    <a:pt x="189484" y="3335401"/>
                  </a:lnTo>
                  <a:cubicBezTo>
                    <a:pt x="355600" y="3187700"/>
                    <a:pt x="592963" y="3151251"/>
                    <a:pt x="795655" y="3242310"/>
                  </a:cubicBezTo>
                  <a:cubicBezTo>
                    <a:pt x="998347" y="3333369"/>
                    <a:pt x="1128903" y="3534918"/>
                    <a:pt x="1128903" y="3757168"/>
                  </a:cubicBezTo>
                  <a:cubicBezTo>
                    <a:pt x="1128903" y="5208778"/>
                    <a:pt x="2305685" y="6385560"/>
                    <a:pt x="3757295" y="6385560"/>
                  </a:cubicBezTo>
                  <a:cubicBezTo>
                    <a:pt x="5208905" y="6385560"/>
                    <a:pt x="6385560" y="5208778"/>
                    <a:pt x="6385560" y="3757168"/>
                  </a:cubicBezTo>
                  <a:lnTo>
                    <a:pt x="6949948" y="3757168"/>
                  </a:lnTo>
                  <a:lnTo>
                    <a:pt x="6385560" y="3757168"/>
                  </a:lnTo>
                  <a:cubicBezTo>
                    <a:pt x="6385560" y="2305558"/>
                    <a:pt x="5208778" y="1128776"/>
                    <a:pt x="3757168" y="1128776"/>
                  </a:cubicBezTo>
                  <a:lnTo>
                    <a:pt x="3757168" y="564388"/>
                  </a:lnTo>
                  <a:lnTo>
                    <a:pt x="3757168" y="1128903"/>
                  </a:lnTo>
                  <a:cubicBezTo>
                    <a:pt x="2305558" y="1128903"/>
                    <a:pt x="1128776" y="2305685"/>
                    <a:pt x="1128776" y="3757295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-2626786" y="-2924592"/>
            <a:ext cx="4830022" cy="4830020"/>
            <a:chOff x="0" y="0"/>
            <a:chExt cx="6440029" cy="64400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40043" cy="6440043"/>
            </a:xfrm>
            <a:custGeom>
              <a:avLst/>
              <a:gdLst/>
              <a:ahLst/>
              <a:cxnLst/>
              <a:rect r="r" b="b" t="t" l="l"/>
              <a:pathLst>
                <a:path h="6440043" w="6440043">
                  <a:moveTo>
                    <a:pt x="0" y="3219958"/>
                  </a:moveTo>
                  <a:cubicBezTo>
                    <a:pt x="0" y="1441704"/>
                    <a:pt x="1441704" y="0"/>
                    <a:pt x="3219958" y="0"/>
                  </a:cubicBezTo>
                  <a:lnTo>
                    <a:pt x="3219958" y="564388"/>
                  </a:lnTo>
                  <a:lnTo>
                    <a:pt x="3219958" y="0"/>
                  </a:lnTo>
                  <a:cubicBezTo>
                    <a:pt x="4998339" y="0"/>
                    <a:pt x="6440043" y="1441704"/>
                    <a:pt x="6440043" y="3219958"/>
                  </a:cubicBezTo>
                  <a:cubicBezTo>
                    <a:pt x="6440043" y="4998212"/>
                    <a:pt x="4998339" y="6440043"/>
                    <a:pt x="3219958" y="6440043"/>
                  </a:cubicBezTo>
                  <a:lnTo>
                    <a:pt x="3219958" y="5875528"/>
                  </a:lnTo>
                  <a:lnTo>
                    <a:pt x="3219958" y="6439916"/>
                  </a:lnTo>
                  <a:cubicBezTo>
                    <a:pt x="1441704" y="6440043"/>
                    <a:pt x="0" y="4998339"/>
                    <a:pt x="0" y="3219958"/>
                  </a:cubicBezTo>
                  <a:lnTo>
                    <a:pt x="564388" y="3219958"/>
                  </a:lnTo>
                  <a:lnTo>
                    <a:pt x="1056386" y="3496691"/>
                  </a:lnTo>
                  <a:cubicBezTo>
                    <a:pt x="930529" y="3720338"/>
                    <a:pt x="669671" y="3831082"/>
                    <a:pt x="421386" y="3765931"/>
                  </a:cubicBezTo>
                  <a:cubicBezTo>
                    <a:pt x="173101" y="3700780"/>
                    <a:pt x="0" y="3476625"/>
                    <a:pt x="0" y="3219958"/>
                  </a:cubicBezTo>
                  <a:moveTo>
                    <a:pt x="1128903" y="3219958"/>
                  </a:moveTo>
                  <a:lnTo>
                    <a:pt x="564388" y="3219958"/>
                  </a:lnTo>
                  <a:lnTo>
                    <a:pt x="72517" y="2943225"/>
                  </a:lnTo>
                  <a:cubicBezTo>
                    <a:pt x="198374" y="2719578"/>
                    <a:pt x="459232" y="2608834"/>
                    <a:pt x="707517" y="2673985"/>
                  </a:cubicBezTo>
                  <a:cubicBezTo>
                    <a:pt x="955802" y="2739136"/>
                    <a:pt x="1128903" y="2963418"/>
                    <a:pt x="1128903" y="3219958"/>
                  </a:cubicBezTo>
                  <a:cubicBezTo>
                    <a:pt x="1128903" y="4374896"/>
                    <a:pt x="2065147" y="5311140"/>
                    <a:pt x="3220085" y="5311140"/>
                  </a:cubicBezTo>
                  <a:cubicBezTo>
                    <a:pt x="4375023" y="5311140"/>
                    <a:pt x="5311140" y="4374896"/>
                    <a:pt x="5311140" y="3219958"/>
                  </a:cubicBezTo>
                  <a:lnTo>
                    <a:pt x="5875528" y="3219958"/>
                  </a:lnTo>
                  <a:lnTo>
                    <a:pt x="5311140" y="3219958"/>
                  </a:lnTo>
                  <a:cubicBezTo>
                    <a:pt x="5311140" y="2065020"/>
                    <a:pt x="4374896" y="1128776"/>
                    <a:pt x="3219958" y="1128776"/>
                  </a:cubicBezTo>
                  <a:lnTo>
                    <a:pt x="3219958" y="564388"/>
                  </a:lnTo>
                  <a:lnTo>
                    <a:pt x="3219958" y="1128903"/>
                  </a:lnTo>
                  <a:cubicBezTo>
                    <a:pt x="2065020" y="1128903"/>
                    <a:pt x="1128776" y="2065147"/>
                    <a:pt x="1128776" y="3220085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2504100" y="5815733"/>
            <a:ext cx="1327999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 data-driven analysis of geographic, socioeconomic &amp; Indigenous health gaps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40880" y="438150"/>
            <a:ext cx="1124712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The Problem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996690" y="1833704"/>
            <a:ext cx="10294620" cy="173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2"/>
              </a:lnSpc>
            </a:pPr>
            <a:r>
              <a:rPr lang="en-US" sz="28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Every year, over 160,000 hospital bed days are c</a:t>
            </a:r>
            <a:r>
              <a:rPr lang="en-US" sz="285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onsumed by conditions that never needed to reach a hospital. These aren't accidents — they're a signal that our primary care system isn't reaching everyone equally.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2831041" y="7408333"/>
            <a:ext cx="3898054" cy="3898054"/>
            <a:chOff x="0" y="0"/>
            <a:chExt cx="5197405" cy="51974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900898" y="5306409"/>
            <a:ext cx="12486204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160,000+ bed days lost to preventable conditions (Indigenous Australians)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31 Primary Health Networks across Australia studied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Some remote regions have PPH rates 15× higher than cities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08715" y="5325459"/>
            <a:ext cx="550482" cy="550482"/>
            <a:chOff x="0" y="0"/>
            <a:chExt cx="1264920" cy="12649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4920" cy="1264920"/>
            </a:xfrm>
            <a:custGeom>
              <a:avLst/>
              <a:gdLst/>
              <a:ahLst/>
              <a:cxnLst/>
              <a:rect r="r" b="b" t="t" l="l"/>
              <a:pathLst>
                <a:path h="1264920" w="1264920">
                  <a:moveTo>
                    <a:pt x="0" y="632460"/>
                  </a:moveTo>
                  <a:cubicBezTo>
                    <a:pt x="0" y="283210"/>
                    <a:pt x="283210" y="0"/>
                    <a:pt x="632460" y="0"/>
                  </a:cubicBezTo>
                  <a:cubicBezTo>
                    <a:pt x="981710" y="0"/>
                    <a:pt x="1264920" y="283210"/>
                    <a:pt x="1264920" y="632460"/>
                  </a:cubicBezTo>
                  <a:cubicBezTo>
                    <a:pt x="1264920" y="981710"/>
                    <a:pt x="981710" y="1264920"/>
                    <a:pt x="632460" y="1264920"/>
                  </a:cubicBezTo>
                  <a:cubicBezTo>
                    <a:pt x="283210" y="1264920"/>
                    <a:pt x="0" y="981710"/>
                    <a:pt x="0" y="632460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08715" y="6193218"/>
            <a:ext cx="550482" cy="550482"/>
            <a:chOff x="0" y="0"/>
            <a:chExt cx="1264920" cy="1264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64920" cy="1264920"/>
            </a:xfrm>
            <a:custGeom>
              <a:avLst/>
              <a:gdLst/>
              <a:ahLst/>
              <a:cxnLst/>
              <a:rect r="r" b="b" t="t" l="l"/>
              <a:pathLst>
                <a:path h="1264920" w="1264920">
                  <a:moveTo>
                    <a:pt x="0" y="632460"/>
                  </a:moveTo>
                  <a:cubicBezTo>
                    <a:pt x="0" y="283210"/>
                    <a:pt x="283210" y="0"/>
                    <a:pt x="632460" y="0"/>
                  </a:cubicBezTo>
                  <a:cubicBezTo>
                    <a:pt x="981710" y="0"/>
                    <a:pt x="1264920" y="283210"/>
                    <a:pt x="1264920" y="632460"/>
                  </a:cubicBezTo>
                  <a:cubicBezTo>
                    <a:pt x="1264920" y="981710"/>
                    <a:pt x="981710" y="1264920"/>
                    <a:pt x="632460" y="1264920"/>
                  </a:cubicBezTo>
                  <a:cubicBezTo>
                    <a:pt x="283210" y="1264920"/>
                    <a:pt x="0" y="981710"/>
                    <a:pt x="0" y="632460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08715" y="7060978"/>
            <a:ext cx="550482" cy="550482"/>
            <a:chOff x="0" y="0"/>
            <a:chExt cx="1264920" cy="1264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4920" cy="1264920"/>
            </a:xfrm>
            <a:custGeom>
              <a:avLst/>
              <a:gdLst/>
              <a:ahLst/>
              <a:cxnLst/>
              <a:rect r="r" b="b" t="t" l="l"/>
              <a:pathLst>
                <a:path h="1264920" w="1264920">
                  <a:moveTo>
                    <a:pt x="0" y="632460"/>
                  </a:moveTo>
                  <a:cubicBezTo>
                    <a:pt x="0" y="283210"/>
                    <a:pt x="283210" y="0"/>
                    <a:pt x="632460" y="0"/>
                  </a:cubicBezTo>
                  <a:cubicBezTo>
                    <a:pt x="981710" y="0"/>
                    <a:pt x="1264920" y="283210"/>
                    <a:pt x="1264920" y="632460"/>
                  </a:cubicBezTo>
                  <a:cubicBezTo>
                    <a:pt x="1264920" y="981710"/>
                    <a:pt x="981710" y="1264920"/>
                    <a:pt x="632460" y="1264920"/>
                  </a:cubicBezTo>
                  <a:cubicBezTo>
                    <a:pt x="283210" y="1264920"/>
                    <a:pt x="0" y="981710"/>
                    <a:pt x="0" y="632460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38150"/>
            <a:ext cx="1124712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 Research Questions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831041" y="7408333"/>
            <a:ext cx="3898054" cy="3898054"/>
            <a:chOff x="0" y="0"/>
            <a:chExt cx="5197405" cy="51974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83955" y="2243630"/>
            <a:ext cx="16304045" cy="2762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Which factors — geography, poverty, or health service access — best predict preventable hospitalisations across Australia?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Onc</a:t>
            </a: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 an Indigenous Australian is admitted for a preventable condition, which factors — clinical diagnosis, category, or demographics — best predict the length of stay (bed-day burden)?</a:t>
            </a: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158233" y="2262680"/>
            <a:ext cx="550482" cy="550482"/>
            <a:chOff x="0" y="0"/>
            <a:chExt cx="1264920" cy="1264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4920" cy="1264920"/>
            </a:xfrm>
            <a:custGeom>
              <a:avLst/>
              <a:gdLst/>
              <a:ahLst/>
              <a:cxnLst/>
              <a:rect r="r" b="b" t="t" l="l"/>
              <a:pathLst>
                <a:path h="1264920" w="1264920">
                  <a:moveTo>
                    <a:pt x="0" y="632460"/>
                  </a:moveTo>
                  <a:cubicBezTo>
                    <a:pt x="0" y="283210"/>
                    <a:pt x="283210" y="0"/>
                    <a:pt x="632460" y="0"/>
                  </a:cubicBezTo>
                  <a:cubicBezTo>
                    <a:pt x="981710" y="0"/>
                    <a:pt x="1264920" y="283210"/>
                    <a:pt x="1264920" y="632460"/>
                  </a:cubicBezTo>
                  <a:cubicBezTo>
                    <a:pt x="1264920" y="981710"/>
                    <a:pt x="981710" y="1264920"/>
                    <a:pt x="632460" y="1264920"/>
                  </a:cubicBezTo>
                  <a:cubicBezTo>
                    <a:pt x="283210" y="1264920"/>
                    <a:pt x="0" y="981710"/>
                    <a:pt x="0" y="632460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58233" y="3634280"/>
            <a:ext cx="550482" cy="550482"/>
            <a:chOff x="0" y="0"/>
            <a:chExt cx="1264920" cy="1264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4920" cy="1264920"/>
            </a:xfrm>
            <a:custGeom>
              <a:avLst/>
              <a:gdLst/>
              <a:ahLst/>
              <a:cxnLst/>
              <a:rect r="r" b="b" t="t" l="l"/>
              <a:pathLst>
                <a:path h="1264920" w="1264920">
                  <a:moveTo>
                    <a:pt x="0" y="632460"/>
                  </a:moveTo>
                  <a:cubicBezTo>
                    <a:pt x="0" y="283210"/>
                    <a:pt x="283210" y="0"/>
                    <a:pt x="632460" y="0"/>
                  </a:cubicBezTo>
                  <a:cubicBezTo>
                    <a:pt x="981710" y="0"/>
                    <a:pt x="1264920" y="283210"/>
                    <a:pt x="1264920" y="632460"/>
                  </a:cubicBezTo>
                  <a:cubicBezTo>
                    <a:pt x="1264920" y="981710"/>
                    <a:pt x="981710" y="1264920"/>
                    <a:pt x="632460" y="1264920"/>
                  </a:cubicBezTo>
                  <a:cubicBezTo>
                    <a:pt x="283210" y="1264920"/>
                    <a:pt x="0" y="981710"/>
                    <a:pt x="0" y="632460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7013" y="438150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Data &amp; Methods - Australian Institute of Health and Welfare: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3011" y="2299001"/>
            <a:ext cx="16834989" cy="596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Data Disparities in potentially preventable hospitalisations across Australia, 2012-13 to 2017-18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Var</a:t>
            </a: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iables: PPH rate, remoteness, SEIFA socioeconomic ranking, Indigenous health check uptake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Regional variation in uptake of Indigenous health checks and in preventable hospitalisations and deaths supplement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Table A1: Crude rates of PPH (2013–14 to 2015–16 pooled), PAD (2012 to 2016 pooled) and Indigenous health checks (2014–15), by Primary Health Network (PHN)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516531" y="4653275"/>
            <a:ext cx="550482" cy="550482"/>
            <a:chOff x="0" y="0"/>
            <a:chExt cx="1264920" cy="1264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4920" cy="1264920"/>
            </a:xfrm>
            <a:custGeom>
              <a:avLst/>
              <a:gdLst/>
              <a:ahLst/>
              <a:cxnLst/>
              <a:rect r="r" b="b" t="t" l="l"/>
              <a:pathLst>
                <a:path h="1264920" w="1264920">
                  <a:moveTo>
                    <a:pt x="0" y="632460"/>
                  </a:moveTo>
                  <a:cubicBezTo>
                    <a:pt x="0" y="283210"/>
                    <a:pt x="283210" y="0"/>
                    <a:pt x="632460" y="0"/>
                  </a:cubicBezTo>
                  <a:cubicBezTo>
                    <a:pt x="981710" y="0"/>
                    <a:pt x="1264920" y="283210"/>
                    <a:pt x="1264920" y="632460"/>
                  </a:cubicBezTo>
                  <a:cubicBezTo>
                    <a:pt x="1264920" y="981710"/>
                    <a:pt x="981710" y="1264920"/>
                    <a:pt x="632460" y="1264920"/>
                  </a:cubicBezTo>
                  <a:cubicBezTo>
                    <a:pt x="283210" y="1264920"/>
                    <a:pt x="0" y="981710"/>
                    <a:pt x="0" y="632460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6531" y="2318051"/>
            <a:ext cx="550482" cy="550482"/>
            <a:chOff x="0" y="0"/>
            <a:chExt cx="1264920" cy="1264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4920" cy="1264920"/>
            </a:xfrm>
            <a:custGeom>
              <a:avLst/>
              <a:gdLst/>
              <a:ahLst/>
              <a:cxnLst/>
              <a:rect r="r" b="b" t="t" l="l"/>
              <a:pathLst>
                <a:path h="1264920" w="1264920">
                  <a:moveTo>
                    <a:pt x="0" y="632460"/>
                  </a:moveTo>
                  <a:cubicBezTo>
                    <a:pt x="0" y="283210"/>
                    <a:pt x="283210" y="0"/>
                    <a:pt x="632460" y="0"/>
                  </a:cubicBezTo>
                  <a:cubicBezTo>
                    <a:pt x="981710" y="0"/>
                    <a:pt x="1264920" y="283210"/>
                    <a:pt x="1264920" y="632460"/>
                  </a:cubicBezTo>
                  <a:cubicBezTo>
                    <a:pt x="1264920" y="981710"/>
                    <a:pt x="981710" y="1264920"/>
                    <a:pt x="632460" y="1264920"/>
                  </a:cubicBezTo>
                  <a:cubicBezTo>
                    <a:pt x="283210" y="1264920"/>
                    <a:pt x="0" y="981710"/>
                    <a:pt x="0" y="632460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65472" y="1231844"/>
            <a:ext cx="1332900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Covers a</a:t>
            </a: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ll 31 Australian Primary Health Networks (PHNs)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854064" y="7232933"/>
            <a:ext cx="2405236" cy="2405236"/>
          </a:xfrm>
          <a:custGeom>
            <a:avLst/>
            <a:gdLst/>
            <a:ahLst/>
            <a:cxnLst/>
            <a:rect r="r" b="b" t="t" l="l"/>
            <a:pathLst>
              <a:path h="2405236" w="2405236">
                <a:moveTo>
                  <a:pt x="0" y="0"/>
                </a:moveTo>
                <a:lnTo>
                  <a:pt x="2405236" y="0"/>
                </a:lnTo>
                <a:lnTo>
                  <a:pt x="2405236" y="2405236"/>
                </a:lnTo>
                <a:lnTo>
                  <a:pt x="0" y="24052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7013" y="438150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Data &amp; Methods - Australian Institute of Health and Welfare: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53011" y="2299001"/>
            <a:ext cx="16834989" cy="550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 1 (The Access Model): Multiple Linear Regression (OLS) to analyze regional drivers (PHN level).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 2 (The Resource Model): Random Forest Machine Learning to predict Average Length of Stay for indigenous people based on clinical conditions.</a:t>
            </a: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</a:pPr>
          </a:p>
          <a:p>
            <a:pPr algn="l">
              <a:lnSpc>
                <a:spcPts val="3600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516531" y="4653275"/>
            <a:ext cx="550482" cy="550482"/>
            <a:chOff x="0" y="0"/>
            <a:chExt cx="1264920" cy="1264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4920" cy="1264920"/>
            </a:xfrm>
            <a:custGeom>
              <a:avLst/>
              <a:gdLst/>
              <a:ahLst/>
              <a:cxnLst/>
              <a:rect r="r" b="b" t="t" l="l"/>
              <a:pathLst>
                <a:path h="1264920" w="1264920">
                  <a:moveTo>
                    <a:pt x="0" y="632460"/>
                  </a:moveTo>
                  <a:cubicBezTo>
                    <a:pt x="0" y="283210"/>
                    <a:pt x="283210" y="0"/>
                    <a:pt x="632460" y="0"/>
                  </a:cubicBezTo>
                  <a:cubicBezTo>
                    <a:pt x="981710" y="0"/>
                    <a:pt x="1264920" y="283210"/>
                    <a:pt x="1264920" y="632460"/>
                  </a:cubicBezTo>
                  <a:cubicBezTo>
                    <a:pt x="1264920" y="981710"/>
                    <a:pt x="981710" y="1264920"/>
                    <a:pt x="632460" y="1264920"/>
                  </a:cubicBezTo>
                  <a:cubicBezTo>
                    <a:pt x="283210" y="1264920"/>
                    <a:pt x="0" y="981710"/>
                    <a:pt x="0" y="632460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16531" y="2318051"/>
            <a:ext cx="550482" cy="550482"/>
            <a:chOff x="0" y="0"/>
            <a:chExt cx="1264920" cy="1264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4920" cy="1264920"/>
            </a:xfrm>
            <a:custGeom>
              <a:avLst/>
              <a:gdLst/>
              <a:ahLst/>
              <a:cxnLst/>
              <a:rect r="r" b="b" t="t" l="l"/>
              <a:pathLst>
                <a:path h="1264920" w="1264920">
                  <a:moveTo>
                    <a:pt x="0" y="632460"/>
                  </a:moveTo>
                  <a:cubicBezTo>
                    <a:pt x="0" y="283210"/>
                    <a:pt x="283210" y="0"/>
                    <a:pt x="632460" y="0"/>
                  </a:cubicBezTo>
                  <a:cubicBezTo>
                    <a:pt x="981710" y="0"/>
                    <a:pt x="1264920" y="283210"/>
                    <a:pt x="1264920" y="632460"/>
                  </a:cubicBezTo>
                  <a:cubicBezTo>
                    <a:pt x="1264920" y="981710"/>
                    <a:pt x="981710" y="1264920"/>
                    <a:pt x="632460" y="1264920"/>
                  </a:cubicBezTo>
                  <a:cubicBezTo>
                    <a:pt x="283210" y="1264920"/>
                    <a:pt x="0" y="981710"/>
                    <a:pt x="0" y="632460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65472" y="1231844"/>
            <a:ext cx="1332900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Covers a</a:t>
            </a: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ll 31 Australian Primary Health Networks (PHNs)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854064" y="7232933"/>
            <a:ext cx="2405236" cy="2405236"/>
          </a:xfrm>
          <a:custGeom>
            <a:avLst/>
            <a:gdLst/>
            <a:ahLst/>
            <a:cxnLst/>
            <a:rect r="r" b="b" t="t" l="l"/>
            <a:pathLst>
              <a:path h="2405236" w="2405236">
                <a:moveTo>
                  <a:pt x="0" y="0"/>
                </a:moveTo>
                <a:lnTo>
                  <a:pt x="2405236" y="0"/>
                </a:lnTo>
                <a:lnTo>
                  <a:pt x="2405236" y="2405236"/>
                </a:lnTo>
                <a:lnTo>
                  <a:pt x="0" y="24052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1041" y="7408333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389022" y="1274012"/>
            <a:ext cx="12829116" cy="8577180"/>
          </a:xfrm>
          <a:custGeom>
            <a:avLst/>
            <a:gdLst/>
            <a:ahLst/>
            <a:cxnLst/>
            <a:rect r="r" b="b" t="t" l="l"/>
            <a:pathLst>
              <a:path h="8577180" w="12829116">
                <a:moveTo>
                  <a:pt x="0" y="0"/>
                </a:moveTo>
                <a:lnTo>
                  <a:pt x="12829116" y="0"/>
                </a:lnTo>
                <a:lnTo>
                  <a:pt x="12829116" y="8577180"/>
                </a:lnTo>
                <a:lnTo>
                  <a:pt x="0" y="85771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38150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The National Picture: Most PHNs Are Fine — But Not All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1041" y="7408333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708682" y="1441398"/>
            <a:ext cx="14870637" cy="8104497"/>
          </a:xfrm>
          <a:custGeom>
            <a:avLst/>
            <a:gdLst/>
            <a:ahLst/>
            <a:cxnLst/>
            <a:rect r="r" b="b" t="t" l="l"/>
            <a:pathLst>
              <a:path h="8104497" w="14870637">
                <a:moveTo>
                  <a:pt x="0" y="0"/>
                </a:moveTo>
                <a:lnTo>
                  <a:pt x="14870636" y="0"/>
                </a:lnTo>
                <a:lnTo>
                  <a:pt x="14870636" y="8104497"/>
                </a:lnTo>
                <a:lnTo>
                  <a:pt x="0" y="8104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38150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Geography as the First Suspect: The Remoteness Gap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1041" y="7408333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779226" y="1360648"/>
            <a:ext cx="12729547" cy="8640180"/>
          </a:xfrm>
          <a:custGeom>
            <a:avLst/>
            <a:gdLst/>
            <a:ahLst/>
            <a:cxnLst/>
            <a:rect r="r" b="b" t="t" l="l"/>
            <a:pathLst>
              <a:path h="8640180" w="12729547">
                <a:moveTo>
                  <a:pt x="0" y="0"/>
                </a:moveTo>
                <a:lnTo>
                  <a:pt x="12729548" y="0"/>
                </a:lnTo>
                <a:lnTo>
                  <a:pt x="12729548" y="8640181"/>
                </a:lnTo>
                <a:lnTo>
                  <a:pt x="0" y="86401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38150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Poverty Makes It Worse: The Socioeconomic Staircase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2833" y="8337973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234858" y="1329269"/>
            <a:ext cx="12757685" cy="8690825"/>
          </a:xfrm>
          <a:custGeom>
            <a:avLst/>
            <a:gdLst/>
            <a:ahLst/>
            <a:cxnLst/>
            <a:rect r="r" b="b" t="t" l="l"/>
            <a:pathLst>
              <a:path h="8690825" w="12757685">
                <a:moveTo>
                  <a:pt x="0" y="0"/>
                </a:moveTo>
                <a:lnTo>
                  <a:pt x="12757684" y="0"/>
                </a:lnTo>
                <a:lnTo>
                  <a:pt x="12757684" y="8690825"/>
                </a:lnTo>
                <a:lnTo>
                  <a:pt x="0" y="8690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38150"/>
            <a:ext cx="1589288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The Health Checks Paradox — More Checks, More Admissions?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32833" y="8337973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408219" y="1459799"/>
            <a:ext cx="10287473" cy="8565896"/>
          </a:xfrm>
          <a:custGeom>
            <a:avLst/>
            <a:gdLst/>
            <a:ahLst/>
            <a:cxnLst/>
            <a:rect r="r" b="b" t="t" l="l"/>
            <a:pathLst>
              <a:path h="8565896" w="10287473">
                <a:moveTo>
                  <a:pt x="0" y="0"/>
                </a:moveTo>
                <a:lnTo>
                  <a:pt x="10287473" y="0"/>
                </a:lnTo>
                <a:lnTo>
                  <a:pt x="10287473" y="8565896"/>
                </a:lnTo>
                <a:lnTo>
                  <a:pt x="0" y="8565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38150"/>
            <a:ext cx="1589288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Everything Is Connected — Why We Need a Model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1041" y="7408333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11397" y="1347859"/>
            <a:ext cx="14600129" cy="8559326"/>
          </a:xfrm>
          <a:custGeom>
            <a:avLst/>
            <a:gdLst/>
            <a:ahLst/>
            <a:cxnLst/>
            <a:rect r="r" b="b" t="t" l="l"/>
            <a:pathLst>
              <a:path h="8559326" w="14600129">
                <a:moveTo>
                  <a:pt x="0" y="0"/>
                </a:moveTo>
                <a:lnTo>
                  <a:pt x="14600129" y="0"/>
                </a:lnTo>
                <a:lnTo>
                  <a:pt x="14600129" y="8559326"/>
                </a:lnTo>
                <a:lnTo>
                  <a:pt x="0" y="8559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67013" y="438150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Where the Beds Are Being Filled: Top 10 Clinical Conditions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54955" y="8337973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52508" y="1406265"/>
            <a:ext cx="15782984" cy="7852035"/>
          </a:xfrm>
          <a:custGeom>
            <a:avLst/>
            <a:gdLst/>
            <a:ahLst/>
            <a:cxnLst/>
            <a:rect r="r" b="b" t="t" l="l"/>
            <a:pathLst>
              <a:path h="7852035" w="15782984">
                <a:moveTo>
                  <a:pt x="0" y="0"/>
                </a:moveTo>
                <a:lnTo>
                  <a:pt x="15782984" y="0"/>
                </a:lnTo>
                <a:lnTo>
                  <a:pt x="15782984" y="7852035"/>
                </a:lnTo>
                <a:lnTo>
                  <a:pt x="0" y="78520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67013" y="438150"/>
            <a:ext cx="1518495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A Worsening Trend: Chronic Conditions Are Rising Year on Year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85621" y="8337973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1480929"/>
            <a:ext cx="16099211" cy="7325141"/>
          </a:xfrm>
          <a:custGeom>
            <a:avLst/>
            <a:gdLst/>
            <a:ahLst/>
            <a:cxnLst/>
            <a:rect r="r" b="b" t="t" l="l"/>
            <a:pathLst>
              <a:path h="7325141" w="16099211">
                <a:moveTo>
                  <a:pt x="0" y="0"/>
                </a:moveTo>
                <a:lnTo>
                  <a:pt x="16099211" y="0"/>
                </a:lnTo>
                <a:lnTo>
                  <a:pt x="16099211" y="7325142"/>
                </a:lnTo>
                <a:lnTo>
                  <a:pt x="0" y="7325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2433" y="305414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A Gender Gap — But Not the One You'd Expect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85621" y="8337973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21521" y="1721475"/>
            <a:ext cx="15225909" cy="7536825"/>
          </a:xfrm>
          <a:custGeom>
            <a:avLst/>
            <a:gdLst/>
            <a:ahLst/>
            <a:cxnLst/>
            <a:rect r="r" b="b" t="t" l="l"/>
            <a:pathLst>
              <a:path h="7536825" w="15225909">
                <a:moveTo>
                  <a:pt x="0" y="0"/>
                </a:moveTo>
                <a:lnTo>
                  <a:pt x="15225908" y="0"/>
                </a:lnTo>
                <a:lnTo>
                  <a:pt x="15225908" y="7536825"/>
                </a:lnTo>
                <a:lnTo>
                  <a:pt x="0" y="7536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438150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 Average length of stay by condition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1041" y="8337973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67013" y="1009650"/>
            <a:ext cx="1728661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Framing the Data Responsibly: A Note on What These Numbers Mean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689373"/>
            <a:ext cx="1828800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b="true" sz="4499">
                <a:solidFill>
                  <a:srgbClr val="F62E25"/>
                </a:solidFill>
                <a:latin typeface="Arimo Bold"/>
                <a:ea typeface="Arimo Bold"/>
                <a:cs typeface="Arimo Bold"/>
                <a:sym typeface="Arimo Bold"/>
              </a:rPr>
              <a:t>High PPH rates are evidence of a system access failure, not a community failure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038666" y="1732305"/>
            <a:ext cx="7635478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Aboriginal &amp; Torres Strait Islander module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08023" y="9023289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6302" y="2104946"/>
            <a:ext cx="9010865" cy="6386826"/>
          </a:xfrm>
          <a:custGeom>
            <a:avLst/>
            <a:gdLst/>
            <a:ahLst/>
            <a:cxnLst/>
            <a:rect r="r" b="b" t="t" l="l"/>
            <a:pathLst>
              <a:path h="6386826" w="9010865">
                <a:moveTo>
                  <a:pt x="0" y="0"/>
                </a:moveTo>
                <a:lnTo>
                  <a:pt x="9010866" y="0"/>
                </a:lnTo>
                <a:lnTo>
                  <a:pt x="9010866" y="6386826"/>
                </a:lnTo>
                <a:lnTo>
                  <a:pt x="0" y="63868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4701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2433" y="305414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What Our Model Tells Us: Model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3804468"/>
            <a:ext cx="8817769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Remoteness Level: +2.82 (dominant driver)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Socioeconomic Advantage: +0.49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Annual Health Checks: +0.15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Model reliability: R² = 74%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08023" y="9023289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2769262"/>
            <a:ext cx="8982772" cy="4951753"/>
          </a:xfrm>
          <a:custGeom>
            <a:avLst/>
            <a:gdLst/>
            <a:ahLst/>
            <a:cxnLst/>
            <a:rect r="r" b="b" t="t" l="l"/>
            <a:pathLst>
              <a:path h="4951753" w="8982772">
                <a:moveTo>
                  <a:pt x="0" y="0"/>
                </a:moveTo>
                <a:lnTo>
                  <a:pt x="8982772" y="0"/>
                </a:lnTo>
                <a:lnTo>
                  <a:pt x="8982772" y="4951753"/>
                </a:lnTo>
                <a:lnTo>
                  <a:pt x="0" y="4951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2853841"/>
            <a:ext cx="8675909" cy="4782595"/>
          </a:xfrm>
          <a:custGeom>
            <a:avLst/>
            <a:gdLst/>
            <a:ahLst/>
            <a:cxnLst/>
            <a:rect r="r" b="b" t="t" l="l"/>
            <a:pathLst>
              <a:path h="4782595" w="8675909">
                <a:moveTo>
                  <a:pt x="0" y="0"/>
                </a:moveTo>
                <a:lnTo>
                  <a:pt x="8675909" y="0"/>
                </a:lnTo>
                <a:lnTo>
                  <a:pt x="8675909" y="4782595"/>
                </a:lnTo>
                <a:lnTo>
                  <a:pt x="0" y="47825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12433" y="305414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Is Our Model Trustworthy? Testing the Assumptions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08023" y="9023289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2769262"/>
            <a:ext cx="8982772" cy="4951753"/>
          </a:xfrm>
          <a:custGeom>
            <a:avLst/>
            <a:gdLst/>
            <a:ahLst/>
            <a:cxnLst/>
            <a:rect r="r" b="b" t="t" l="l"/>
            <a:pathLst>
              <a:path h="4951753" w="8982772">
                <a:moveTo>
                  <a:pt x="0" y="0"/>
                </a:moveTo>
                <a:lnTo>
                  <a:pt x="8982772" y="0"/>
                </a:lnTo>
                <a:lnTo>
                  <a:pt x="8982772" y="4951753"/>
                </a:lnTo>
                <a:lnTo>
                  <a:pt x="0" y="49517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2853841"/>
            <a:ext cx="8675909" cy="4782595"/>
          </a:xfrm>
          <a:custGeom>
            <a:avLst/>
            <a:gdLst/>
            <a:ahLst/>
            <a:cxnLst/>
            <a:rect r="r" b="b" t="t" l="l"/>
            <a:pathLst>
              <a:path h="4782595" w="8675909">
                <a:moveTo>
                  <a:pt x="0" y="0"/>
                </a:moveTo>
                <a:lnTo>
                  <a:pt x="8675909" y="0"/>
                </a:lnTo>
                <a:lnTo>
                  <a:pt x="8675909" y="4782595"/>
                </a:lnTo>
                <a:lnTo>
                  <a:pt x="0" y="47825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12433" y="305414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Is Our Model Trustworthy? Testing the Assumptions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27253" y="4681537"/>
            <a:ext cx="14189438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9"/>
              </a:lnSpc>
            </a:pPr>
            <a:r>
              <a:rPr lang="en-US" sz="5699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Predicting Bed Demand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08023" y="9023289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80314" y="1851451"/>
            <a:ext cx="8253969" cy="6584098"/>
          </a:xfrm>
          <a:custGeom>
            <a:avLst/>
            <a:gdLst/>
            <a:ahLst/>
            <a:cxnLst/>
            <a:rect r="r" b="b" t="t" l="l"/>
            <a:pathLst>
              <a:path h="6584098" w="8253969">
                <a:moveTo>
                  <a:pt x="0" y="0"/>
                </a:moveTo>
                <a:lnTo>
                  <a:pt x="8253968" y="0"/>
                </a:lnTo>
                <a:lnTo>
                  <a:pt x="8253968" y="6584098"/>
                </a:lnTo>
                <a:lnTo>
                  <a:pt x="0" y="6584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871" r="-10000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2433" y="305414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Advanced Analytics: Random Forest 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6454" y="3581400"/>
            <a:ext cx="3432096" cy="1562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</a:t>
            </a: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ccuracy: 95.2%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MAE = 0.44 days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586454" y="5667516"/>
            <a:ext cx="8023503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12"/>
              </a:lnSpc>
              <a:spcBef>
                <a:spcPct val="0"/>
              </a:spcBef>
            </a:pPr>
            <a:r>
              <a:rPr lang="en-US" b="true" sz="226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On average, predictions are within half a day of actual LOS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08023" y="9023289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400476" y="1468279"/>
            <a:ext cx="13487048" cy="7350441"/>
          </a:xfrm>
          <a:custGeom>
            <a:avLst/>
            <a:gdLst/>
            <a:ahLst/>
            <a:cxnLst/>
            <a:rect r="r" b="b" t="t" l="l"/>
            <a:pathLst>
              <a:path h="7350441" w="13487048">
                <a:moveTo>
                  <a:pt x="0" y="0"/>
                </a:moveTo>
                <a:lnTo>
                  <a:pt x="13487048" y="0"/>
                </a:lnTo>
                <a:lnTo>
                  <a:pt x="13487048" y="7350442"/>
                </a:lnTo>
                <a:lnTo>
                  <a:pt x="0" y="73504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12433" y="305414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What Truly Matters? (Feature Importance)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08023" y="9023289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482384" y="438150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Recommendations for Decision Makers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5255" y="2056776"/>
            <a:ext cx="17572745" cy="721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1. Bridg</a:t>
            </a: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 the distance gap:</a:t>
            </a: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fund telehealth, mobile clinics, and regional urgent care hubs in remote PHNs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2. Scale vaccination:</a:t>
            </a: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culturally safe, community-led immunisation programs targeting the 14,000 vaccine-preventable admissions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3. Focus on nutritional deficiencies</a:t>
            </a: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(13.9-day avg. stay) and gangrene to save the most bed capacity.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4. </a:t>
            </a: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Scale Culturally Safe Prevention</a:t>
            </a: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Prioritize community-led vaccination for the 17,500 annual avoidable admissions.</a:t>
            </a:r>
          </a:p>
          <a:p>
            <a:pPr algn="l">
              <a:lnSpc>
                <a:spcPts val="4080"/>
              </a:lnSpc>
              <a:spcBef>
                <a:spcPct val="0"/>
              </a:spcBef>
            </a:pPr>
          </a:p>
          <a:p>
            <a:pPr algn="l">
              <a:lnSpc>
                <a:spcPts val="4080"/>
              </a:lnSpc>
              <a:spcBef>
                <a:spcPct val="0"/>
              </a:spcBef>
            </a:pPr>
            <a:r>
              <a:rPr lang="en-US" b="true" sz="34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5. Integrated Chronic Care:</a:t>
            </a: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Fund integrated programs for COPD, the fastest-rising drivers of system burden. 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410710" y="8580836"/>
            <a:ext cx="3898054" cy="3898054"/>
            <a:chOff x="0" y="0"/>
            <a:chExt cx="5197405" cy="51974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97348" cy="5197348"/>
            </a:xfrm>
            <a:custGeom>
              <a:avLst/>
              <a:gdLst/>
              <a:ahLst/>
              <a:cxnLst/>
              <a:rect r="r" b="b" t="t" l="l"/>
              <a:pathLst>
                <a:path h="5197348" w="5197348">
                  <a:moveTo>
                    <a:pt x="0" y="2598674"/>
                  </a:moveTo>
                  <a:cubicBezTo>
                    <a:pt x="0" y="1163447"/>
                    <a:pt x="1163447" y="0"/>
                    <a:pt x="2598674" y="0"/>
                  </a:cubicBezTo>
                  <a:lnTo>
                    <a:pt x="2598674" y="282194"/>
                  </a:lnTo>
                  <a:lnTo>
                    <a:pt x="2598674" y="0"/>
                  </a:lnTo>
                  <a:cubicBezTo>
                    <a:pt x="4033901" y="0"/>
                    <a:pt x="5197348" y="1163447"/>
                    <a:pt x="5197348" y="2598674"/>
                  </a:cubicBezTo>
                  <a:lnTo>
                    <a:pt x="4915154" y="2598674"/>
                  </a:lnTo>
                  <a:lnTo>
                    <a:pt x="5197348" y="2598674"/>
                  </a:lnTo>
                  <a:cubicBezTo>
                    <a:pt x="5197348" y="4033901"/>
                    <a:pt x="4033901" y="5197348"/>
                    <a:pt x="2598674" y="5197348"/>
                  </a:cubicBezTo>
                  <a:lnTo>
                    <a:pt x="2598674" y="4915154"/>
                  </a:lnTo>
                  <a:lnTo>
                    <a:pt x="2598674" y="5197348"/>
                  </a:lnTo>
                  <a:cubicBezTo>
                    <a:pt x="1163447" y="5197348"/>
                    <a:pt x="0" y="4033901"/>
                    <a:pt x="0" y="2598674"/>
                  </a:cubicBezTo>
                  <a:lnTo>
                    <a:pt x="282194" y="2598674"/>
                  </a:lnTo>
                  <a:lnTo>
                    <a:pt x="564388" y="2598674"/>
                  </a:lnTo>
                  <a:lnTo>
                    <a:pt x="282194" y="2598674"/>
                  </a:lnTo>
                  <a:lnTo>
                    <a:pt x="0" y="2598674"/>
                  </a:lnTo>
                  <a:moveTo>
                    <a:pt x="564388" y="2598674"/>
                  </a:moveTo>
                  <a:cubicBezTo>
                    <a:pt x="564388" y="2754503"/>
                    <a:pt x="438023" y="2880868"/>
                    <a:pt x="282194" y="2880868"/>
                  </a:cubicBezTo>
                  <a:cubicBezTo>
                    <a:pt x="126365" y="2880868"/>
                    <a:pt x="0" y="2754630"/>
                    <a:pt x="0" y="2598674"/>
                  </a:cubicBezTo>
                  <a:cubicBezTo>
                    <a:pt x="0" y="2442718"/>
                    <a:pt x="126365" y="2316480"/>
                    <a:pt x="282194" y="2316480"/>
                  </a:cubicBezTo>
                  <a:cubicBezTo>
                    <a:pt x="438023" y="2316480"/>
                    <a:pt x="564388" y="2442845"/>
                    <a:pt x="564388" y="2598674"/>
                  </a:cubicBezTo>
                  <a:cubicBezTo>
                    <a:pt x="564388" y="3722116"/>
                    <a:pt x="1475105" y="4632960"/>
                    <a:pt x="2598674" y="4632960"/>
                  </a:cubicBezTo>
                  <a:cubicBezTo>
                    <a:pt x="3722243" y="4632960"/>
                    <a:pt x="4632960" y="3722243"/>
                    <a:pt x="4632960" y="2598674"/>
                  </a:cubicBezTo>
                  <a:cubicBezTo>
                    <a:pt x="4632960" y="1475105"/>
                    <a:pt x="3722243" y="564388"/>
                    <a:pt x="2598674" y="564388"/>
                  </a:cubicBezTo>
                  <a:lnTo>
                    <a:pt x="2598674" y="282194"/>
                  </a:lnTo>
                  <a:lnTo>
                    <a:pt x="2598674" y="564388"/>
                  </a:lnTo>
                  <a:cubicBezTo>
                    <a:pt x="1475232" y="564388"/>
                    <a:pt x="564388" y="1475105"/>
                    <a:pt x="564388" y="2598674"/>
                  </a:cubicBez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15255" y="438150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Limitations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5255" y="2056776"/>
            <a:ext cx="16051649" cy="464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63" indent="-367031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Small n = 31 PHNs</a:t>
            </a: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(limits statistical power)</a:t>
            </a:r>
          </a:p>
          <a:p>
            <a:pPr algn="l">
              <a:lnSpc>
                <a:spcPts val="4080"/>
              </a:lnSpc>
            </a:pPr>
          </a:p>
          <a:p>
            <a:pPr algn="l" marL="734063" indent="-367031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Cross-sectional data: no causal direction proven</a:t>
            </a:r>
          </a:p>
          <a:p>
            <a:pPr algn="l">
              <a:lnSpc>
                <a:spcPts val="4080"/>
              </a:lnSpc>
            </a:pPr>
          </a:p>
          <a:p>
            <a:pPr algn="l" marL="734063" indent="-367031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PHN to SEIFA/remoteness mapping was manually assigned</a:t>
            </a:r>
          </a:p>
          <a:p>
            <a:pPr algn="l">
              <a:lnSpc>
                <a:spcPts val="4080"/>
              </a:lnSpc>
            </a:pPr>
          </a:p>
          <a:p>
            <a:pPr algn="l" marL="734063" indent="-367031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Multicollinearity between remoteness and health checks noted</a:t>
            </a:r>
          </a:p>
          <a:p>
            <a:pPr algn="l">
              <a:lnSpc>
                <a:spcPts val="4080"/>
              </a:lnSpc>
            </a:pPr>
          </a:p>
          <a:p>
            <a:pPr algn="l" marL="734063" indent="-367031" lvl="1">
              <a:lnSpc>
                <a:spcPts val="4080"/>
              </a:lnSpc>
              <a:buFont typeface="Arial"/>
              <a:buChar char="•"/>
            </a:pPr>
            <a:r>
              <a:rPr lang="en-US" sz="34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Variables were drawn from different reporting years, creating temporal mismatch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96296" y="1205256"/>
            <a:ext cx="8495408" cy="7091544"/>
          </a:xfrm>
          <a:custGeom>
            <a:avLst/>
            <a:gdLst/>
            <a:ahLst/>
            <a:cxnLst/>
            <a:rect r="r" b="b" t="t" l="l"/>
            <a:pathLst>
              <a:path h="7091544" w="8495408">
                <a:moveTo>
                  <a:pt x="0" y="0"/>
                </a:moveTo>
                <a:lnTo>
                  <a:pt x="8495408" y="0"/>
                </a:lnTo>
                <a:lnTo>
                  <a:pt x="8495408" y="7091543"/>
                </a:lnTo>
                <a:lnTo>
                  <a:pt x="0" y="70915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1752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38150"/>
            <a:ext cx="1418943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333333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1941" y="8782050"/>
            <a:ext cx="1484411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Your postcode shouldn't determine your health outcomes, but right now, it does :(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35673" y="2811923"/>
            <a:ext cx="12445213" cy="4887574"/>
          </a:xfrm>
          <a:custGeom>
            <a:avLst/>
            <a:gdLst/>
            <a:ahLst/>
            <a:cxnLst/>
            <a:rect r="r" b="b" t="t" l="l"/>
            <a:pathLst>
              <a:path h="4887574" w="12445213">
                <a:moveTo>
                  <a:pt x="0" y="0"/>
                </a:moveTo>
                <a:lnTo>
                  <a:pt x="12445212" y="0"/>
                </a:lnTo>
                <a:lnTo>
                  <a:pt x="12445212" y="4887575"/>
                </a:lnTo>
                <a:lnTo>
                  <a:pt x="0" y="4887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DAHIb4bIAsk</dc:identifier>
  <dcterms:modified xsi:type="dcterms:W3CDTF">2011-08-01T06:04:30Z</dcterms:modified>
  <cp:revision>1</cp:revision>
  <dc:title>Copy of Copy of Comparative Analysis of Pakistan and EU EV Policies.pptx</dc:title>
</cp:coreProperties>
</file>